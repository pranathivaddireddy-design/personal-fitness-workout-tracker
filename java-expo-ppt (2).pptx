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Barlow"/>
      <p:regular r:id="rId201314"/>
    </p:embeddedFont>
    <p:embeddedFont>
      <p:font typeface="Barlow Bold"/>
      <p:regular r:id="rId201315"/>
    </p:embeddedFont>
    <p:embeddedFont>
      <p:font typeface="Spline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3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5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6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8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8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929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9290"/>
          </a:xfrm>
          <a:prstGeom prst="rect">
            <a:avLst/>
          </a:prstGeom>
          <a:solidFill>
            <a:srgbClr val="0A081B">
              <a:alpha val="8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8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635576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Personal Fitness &amp; Workout Tracker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34200" y="2507159"/>
            <a:ext cx="1133287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 Java-Based Fitness Management Application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583193" y="3078857"/>
            <a:ext cx="5407783" cy="2169220"/>
          </a:xfrm>
          <a:prstGeom prst="roundRect">
            <a:avLst>
              <a:gd name="adj" fmla="val 23212"/>
            </a:avLst>
          </a:prstGeom>
          <a:solidFill>
            <a:srgbClr val="001F3F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92936" y="3298307"/>
            <a:ext cx="498829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Presented By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2936" y="3789759"/>
            <a:ext cx="4988296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35280" indent="-33528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S. Meghana — Roll No. 2620030645</a:t>
            </a:r>
            <a:endParaRPr lang="en-US" sz="1650" dirty="0"/>
          </a:p>
          <a:p>
            <a:pPr algn="l" marL="335280" indent="-33528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K. Raghavendra Varma — Roll No. 2620030549</a:t>
            </a:r>
            <a:endParaRPr lang="en-US" sz="1650" dirty="0"/>
          </a:p>
          <a:p>
            <a:pPr algn="l" marL="335280" indent="-33528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P. Pranathi — Roll No. 2620030670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358076" y="3298307"/>
            <a:ext cx="5105768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Project Details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58076" y="3789759"/>
            <a:ext cx="5105768" cy="744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35280" indent="-335280">
              <a:lnSpc>
                <a:spcPct val="133000"/>
              </a:lnSpc>
              <a:buSzPct val="100000"/>
              <a:buChar char="•"/>
            </a:pPr>
            <a:r>
              <a:rPr lang="en-US" sz="16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Department:</a:t>
            </a:r>
            <a:pPr algn="l" marL="335280" indent="-33528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CSE</a:t>
            </a:r>
            <a:endParaRPr lang="en-US" sz="1650" dirty="0"/>
          </a:p>
          <a:p>
            <a:pPr algn="l" marL="335280" indent="-335280">
              <a:lnSpc>
                <a:spcPct val="133000"/>
              </a:lnSpc>
              <a:buSzPct val="100000"/>
              <a:buChar char="•"/>
            </a:pPr>
            <a:r>
              <a:rPr lang="en-US" sz="16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Faculty Guide:</a:t>
            </a:r>
            <a:pPr algn="l" marL="335280" indent="-335280">
              <a:lnSpc>
                <a:spcPct val="133000"/>
              </a:lnSpc>
              <a:buSzPct val="100000"/>
              <a:buChar char="•"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G.Mamatha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871832"/>
            <a:ext cx="10723294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Abstract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34200" y="1491008"/>
            <a:ext cx="1072329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Problem &amp; Objective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4200" y="2038449"/>
            <a:ext cx="10723294" cy="2815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650"/>
              </a:spcAft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Tracking workouts by hand is slow and easy to get wrong. This makes it hard to track progress and keep records.</a:t>
            </a:r>
            <a:endParaRPr lang="en-US" sz="1550" dirty="0"/>
          </a:p>
          <a:p>
            <a:pPr algn="l" indent="0" marL="0">
              <a:lnSpc>
                <a:spcPct val="130000"/>
              </a:lnSpc>
              <a:spcAft>
                <a:spcPts val="1650"/>
              </a:spcAft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This project is a Java-based Personal Fitness &amp; Workout Tracker. It records each workout's exercise name, duration, and calories burned.</a:t>
            </a:r>
            <a:endParaRPr lang="en-US" sz="1550" dirty="0"/>
          </a:p>
          <a:p>
            <a:pPr algn="l" indent="0" marL="0">
              <a:lnSpc>
                <a:spcPct val="130000"/>
              </a:lnSpc>
              <a:spcAft>
                <a:spcPts val="1650"/>
              </a:spcAft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program uses Java concepts to calculate total duration and total calories. Users can search by exercise name and sort by duration.</a:t>
            </a:r>
            <a:endParaRPr lang="en-US" sz="15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Workout data is saved to and loaded from workouts.txt, so progress is kept between sessions. The app creates a fitness summary using the Streams API. A menu with input checks helps prevent wrong entries.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34200" y="5151188"/>
            <a:ext cx="1072329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Technology Stack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4200" y="5700271"/>
            <a:ext cx="11332879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Java 8+, Collections Framework (ArrayList), Streams API, File I/O (BufferedReader / PrintWriter), and Object-Oriented Design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07739"/>
            <a:ext cx="10723294" cy="360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CO1 / Module 1: Java Foundations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734200" y="1115219"/>
            <a:ext cx="1663559" cy="197545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184" y="1161951"/>
            <a:ext cx="103979" cy="1039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8152" y="1155398"/>
            <a:ext cx="1961208" cy="119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FROM PROBLEM TO PROGRAM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34200" y="1492659"/>
            <a:ext cx="5203100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Concepts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4200" y="1744861"/>
            <a:ext cx="5203100" cy="954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Variables, constants, primitive data types</a:t>
            </a:r>
            <a:endParaRPr lang="en-US" sz="1000" dirty="0"/>
          </a:p>
          <a:p>
            <a:pPr algn="l" marL="203200" indent="-2032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Identifiers, literals, arithmetic &amp; assignment operators</a:t>
            </a:r>
            <a:endParaRPr lang="en-US" sz="1000" dirty="0"/>
          </a:p>
          <a:p>
            <a:pPr algn="l" marL="203200" indent="-2032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Type conversion and expression evaluation</a:t>
            </a:r>
            <a:endParaRPr lang="en-US" sz="1000" dirty="0"/>
          </a:p>
          <a:p>
            <a:pPr algn="l" marL="203200" indent="-2032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Scanner for input, formatted output with </a:t>
            </a:r>
            <a:pPr algn="l" marL="203200" indent="-2032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System.out.println()</a:t>
            </a:r>
            <a:pPr algn="l" marL="203200" indent="-2032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</a:t>
            </a:r>
            <a:pPr algn="l" marL="203200" indent="-2032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printf()</a:t>
            </a:r>
            <a:endParaRPr lang="en-US" sz="1000" dirty="0"/>
          </a:p>
          <a:p>
            <a:pPr algn="l" marL="203200" indent="-203200">
              <a:lnSpc>
                <a:spcPct val="108000"/>
              </a:lnSpc>
              <a:buSzPct val="100000"/>
              <a:buChar char="•"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Sequential execution flow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4200" y="2788754"/>
            <a:ext cx="5203100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4200" y="3051076"/>
            <a:ext cx="5203100" cy="2547541"/>
          </a:xfrm>
          <a:prstGeom prst="roundRect">
            <a:avLst>
              <a:gd name="adj" fmla="val 7653"/>
            </a:avLst>
          </a:prstGeom>
          <a:solidFill>
            <a:srgbClr val="171528"/>
          </a:solidFill>
          <a:ln/>
        </p:spPr>
      </p:sp>
      <p:sp>
        <p:nvSpPr>
          <p:cNvPr id="10" name="Text 7"/>
          <p:cNvSpPr/>
          <p:nvPr/>
        </p:nvSpPr>
        <p:spPr>
          <a:xfrm>
            <a:off x="890168" y="3181052"/>
            <a:ext cx="4891164" cy="2287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 FITNESS TRACKER — CO1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name: Rahul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exercise name: Running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duration in minutes: 30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calories burned: 250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Workout Summary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Rahul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Exercise: Running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Duration: 30 minutes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Calories burned: 250 kcal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60745" y="1492659"/>
            <a:ext cx="5203100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Program: Basic Workout Summary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0745" y="1754981"/>
            <a:ext cx="5203100" cy="4419203"/>
          </a:xfrm>
          <a:prstGeom prst="roundRect">
            <a:avLst>
              <a:gd name="adj" fmla="val 4412"/>
            </a:avLst>
          </a:prstGeom>
          <a:solidFill>
            <a:srgbClr val="171528"/>
          </a:solidFill>
          <a:ln/>
        </p:spPr>
      </p:sp>
      <p:sp>
        <p:nvSpPr>
          <p:cNvPr id="13" name="Text 10"/>
          <p:cNvSpPr/>
          <p:nvPr/>
        </p:nvSpPr>
        <p:spPr>
          <a:xfrm>
            <a:off x="6416713" y="1884958"/>
            <a:ext cx="4891164" cy="415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 sc = new Scanner(System.in);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System.out.print("Enter your name: ");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name = sc.nextLine();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System.out.print("Enter exercise name: ");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exercise = sc.nextLine();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System.out.print("Enter duration (min): ");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duration = sc.nextInt();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System.out.print("Enter calories burned: ");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calories = sc.nextInt();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System.out.println("\nWorkout Summary");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System.out.println("User: " + name);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System.out.println("Exercise: " + exercise);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System.out.println("Duration: " + duration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" minutes");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System.out.println("Calories burned: "</a:t>
            </a:r>
            <a:endParaRPr lang="en-US" sz="10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calories + " kcal");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43166"/>
            <a:ext cx="10723294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CO2 / Module 2: Control Flow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734200" y="1035447"/>
            <a:ext cx="1287629" cy="161826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96" y="1073745"/>
            <a:ext cx="85227" cy="852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5886" y="1069314"/>
            <a:ext cx="1641632" cy="97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SELECTION AND ITERATION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734200" y="1319624"/>
            <a:ext cx="5231674" cy="14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Concepts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34200" y="1514177"/>
            <a:ext cx="5231674" cy="589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0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marL="162560" indent="-162560">
              <a:lnSpc>
                <a:spcPct val="10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marL="162560" indent="-162560">
              <a:lnSpc>
                <a:spcPct val="10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if-else</a:t>
            </a:r>
            <a:pPr algn="l" marL="162560" indent="-162560">
              <a:lnSpc>
                <a:spcPct val="10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nested </a:t>
            </a:r>
            <a:pPr algn="l" marL="162560" indent="-162560">
              <a:lnSpc>
                <a:spcPct val="10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marL="162560" indent="-162560">
              <a:lnSpc>
                <a:spcPct val="10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marL="162560" indent="-162560">
              <a:lnSpc>
                <a:spcPct val="10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if-else-if</a:t>
            </a:r>
            <a:endParaRPr lang="en-US" sz="800" dirty="0"/>
          </a:p>
          <a:p>
            <a:pPr algn="l" marL="162560" indent="-162560">
              <a:lnSpc>
                <a:spcPct val="10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pPr algn="l" marL="162560" indent="-162560">
              <a:lnSpc>
                <a:spcPct val="10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marL="162560" indent="-162560">
              <a:lnSpc>
                <a:spcPct val="10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marL="162560" indent="-162560">
              <a:lnSpc>
                <a:spcPct val="10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marL="162560" indent="-162560">
              <a:lnSpc>
                <a:spcPct val="10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800" dirty="0"/>
          </a:p>
          <a:p>
            <a:pPr algn="l" marL="162560" indent="-162560">
              <a:lnSpc>
                <a:spcPct val="10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marL="162560" indent="-162560">
              <a:lnSpc>
                <a:spcPct val="10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marL="162560" indent="-162560">
              <a:lnSpc>
                <a:spcPct val="10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marL="162560" indent="-162560">
              <a:lnSpc>
                <a:spcPct val="10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marL="162560" indent="-162560">
              <a:lnSpc>
                <a:spcPct val="10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do-while</a:t>
            </a:r>
            <a:pPr algn="l" marL="162560" indent="-162560">
              <a:lnSpc>
                <a:spcPct val="10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loops</a:t>
            </a:r>
            <a:endParaRPr lang="en-US" sz="800" dirty="0"/>
          </a:p>
          <a:p>
            <a:pPr algn="l" marL="162560" indent="-162560">
              <a:lnSpc>
                <a:spcPct val="101000"/>
              </a:lnSpc>
              <a:buSzPct val="100000"/>
              <a:buChar char="•"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Menu repetition and input validation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4200" y="2165266"/>
            <a:ext cx="5231674" cy="14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Sample Output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34200" y="2366566"/>
            <a:ext cx="5231674" cy="1917502"/>
          </a:xfrm>
          <a:prstGeom prst="roundRect">
            <a:avLst>
              <a:gd name="adj" fmla="val 8334"/>
            </a:avLst>
          </a:prstGeom>
          <a:solidFill>
            <a:srgbClr val="171528"/>
          </a:solidFill>
          <a:ln/>
        </p:spPr>
      </p:sp>
      <p:sp>
        <p:nvSpPr>
          <p:cNvPr id="10" name="Text 7"/>
          <p:cNvSpPr/>
          <p:nvPr/>
        </p:nvSpPr>
        <p:spPr>
          <a:xfrm>
            <a:off x="861991" y="2473027"/>
            <a:ext cx="4976093" cy="1704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 FITNESS TRACKER — CO2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Running  2. Cycling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Walking  4. Exit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 an option: 1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duration in minutes: 30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selected.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Workout duration: 30 minutes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 an option: 4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Exiting Fitness Tracker. Goodbye!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32171" y="1319624"/>
            <a:ext cx="5231674" cy="14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Program: Workout Menu with Selection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232171" y="1520924"/>
            <a:ext cx="5231674" cy="4644827"/>
          </a:xfrm>
          <a:prstGeom prst="roundRect">
            <a:avLst>
              <a:gd name="adj" fmla="val 3441"/>
            </a:avLst>
          </a:prstGeom>
          <a:solidFill>
            <a:srgbClr val="171528"/>
          </a:solidFill>
          <a:ln/>
        </p:spPr>
      </p:sp>
      <p:sp>
        <p:nvSpPr>
          <p:cNvPr id="13" name="Text 10"/>
          <p:cNvSpPr/>
          <p:nvPr/>
        </p:nvSpPr>
        <p:spPr>
          <a:xfrm>
            <a:off x="6359961" y="1627386"/>
            <a:ext cx="4976093" cy="443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(!exit) {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System.out.println(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"1. Running 2. Cycling"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" 3. Walking 4. Exit");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System.out.print("Choose: ");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choice = sc.nextInt();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switch (choice) {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case 1: case 2: case 3: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System.out.print("Duration (min): ");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 duration = sc.nextInt();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 (duration &gt; 0) {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System.out.println(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"Workout duration: "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duration + " min");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else {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System.out.println("Invalid input");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break;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case 4: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System.out.println("Goodbye!");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exit = true; break;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default: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System.out.println("Invalid choice");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12524"/>
            <a:ext cx="10723294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CO3 / Module 3: Methods, Recursion &amp; Arrays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734200" y="1025327"/>
            <a:ext cx="2062905" cy="168275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675" y="1065113"/>
            <a:ext cx="88600" cy="886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3526" y="1061292"/>
            <a:ext cx="2406689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DECOMPOSITION WITH METHODS AND ARRAYS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734200" y="1323800"/>
            <a:ext cx="522651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Program: Workout Duration Analysis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4200" y="1537494"/>
            <a:ext cx="5226515" cy="4654054"/>
          </a:xfrm>
          <a:prstGeom prst="roundRect">
            <a:avLst>
              <a:gd name="adj" fmla="val 3571"/>
            </a:avLst>
          </a:prstGeom>
          <a:solidFill>
            <a:srgbClr val="171528"/>
          </a:solidFill>
          <a:ln/>
        </p:spPr>
      </p:sp>
      <p:sp>
        <p:nvSpPr>
          <p:cNvPr id="8" name="Text 5"/>
          <p:cNvSpPr/>
          <p:nvPr/>
        </p:nvSpPr>
        <p:spPr>
          <a:xfrm>
            <a:off x="867150" y="1648351"/>
            <a:ext cx="4960615" cy="4432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durations = {30, 45, 20};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System.out.print("Workout Durations: ");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d : durations)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System.out.print(d + " ");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total = 0;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d : durations) total += d;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"\nTotal: " + total + " min");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System.out.printf(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"Average: %.2f min\n",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(double) total / durations.length);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System.out.print("Search duration: ");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search = sc.nextInt();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found = false;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d : durations) {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 == search) {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found = true; break;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found ? "Found" : "Not found");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237330" y="1323800"/>
            <a:ext cx="522651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Concepts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237330" y="1530152"/>
            <a:ext cx="5226515" cy="758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User-defined methods, parameters, return values</a:t>
            </a:r>
            <a:endParaRPr lang="en-US" sz="850" dirty="0"/>
          </a:p>
          <a:p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Method invocation and method overloading</a:t>
            </a:r>
            <a:endParaRPr lang="en-US" sz="850" dirty="0"/>
          </a:p>
          <a:p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One-dimensional arrays and array traversal</a:t>
            </a:r>
            <a:endParaRPr lang="en-US" sz="850" dirty="0"/>
          </a:p>
          <a:p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Summation, average calculation, linear search</a:t>
            </a:r>
            <a:endParaRPr lang="en-US" sz="850" dirty="0"/>
          </a:p>
          <a:p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Enhanced </a:t>
            </a:r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loop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237330" y="2353492"/>
            <a:ext cx="522651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Sample Output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37330" y="2567186"/>
            <a:ext cx="5226515" cy="1285280"/>
          </a:xfrm>
          <a:prstGeom prst="roundRect">
            <a:avLst>
              <a:gd name="adj" fmla="val 12931"/>
            </a:avLst>
          </a:prstGeom>
          <a:solidFill>
            <a:srgbClr val="171528"/>
          </a:solidFill>
          <a:ln/>
        </p:spPr>
      </p:sp>
      <p:sp>
        <p:nvSpPr>
          <p:cNvPr id="13" name="Text 10"/>
          <p:cNvSpPr/>
          <p:nvPr/>
        </p:nvSpPr>
        <p:spPr>
          <a:xfrm>
            <a:off x="6370280" y="2678043"/>
            <a:ext cx="4960615" cy="1063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 FITNESS TRACKER — CO3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Workout Durations: 30 45 20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Workout Duration: 95 minutes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Duration: 31.67 minutes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duration to search: 45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 45 minutes found.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237330" y="3918248"/>
            <a:ext cx="5226515" cy="431403"/>
          </a:xfrm>
          <a:prstGeom prst="roundRect">
            <a:avLst>
              <a:gd name="adj" fmla="val 38526"/>
            </a:avLst>
          </a:prstGeom>
          <a:solidFill>
            <a:srgbClr val="00805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055" y="4015383"/>
            <a:ext cx="138407" cy="1107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597187" y="4009101"/>
            <a:ext cx="4755932" cy="270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Methods promote </a:t>
            </a:r>
            <a:pPr algn="l" indent="0" marL="0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code reuse</a:t>
            </a:r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each calculation is encapsulated in its own method for clean, modular design.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15821"/>
            <a:ext cx="10723294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CO4 / Module 4: Object-Oriented Programming &amp; Exception Handling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34200" y="940891"/>
            <a:ext cx="1653042" cy="139204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166" y="973832"/>
            <a:ext cx="73222" cy="732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8999" y="970543"/>
            <a:ext cx="2042863" cy="84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OBJECT-ORIENTED MODELLING AND DESIGN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734200" y="1168137"/>
            <a:ext cx="5797207" cy="12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Workout Class Definition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734200" y="1337171"/>
            <a:ext cx="5797207" cy="4869458"/>
          </a:xfrm>
          <a:prstGeom prst="roundRect">
            <a:avLst>
              <a:gd name="adj" fmla="val 2822"/>
            </a:avLst>
          </a:prstGeom>
          <a:solidFill>
            <a:srgbClr val="171528"/>
          </a:solidFill>
          <a:ln/>
        </p:spPr>
      </p:sp>
      <p:sp>
        <p:nvSpPr>
          <p:cNvPr id="8" name="Text 5"/>
          <p:cNvSpPr/>
          <p:nvPr/>
        </p:nvSpPr>
        <p:spPr>
          <a:xfrm>
            <a:off x="844132" y="1428750"/>
            <a:ext cx="5577343" cy="468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Workout {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String exerciseName;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int duration, caloriesBurned;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Workout(String name,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int dur, int cal) {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this.exerciseName = name;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this.duration = dur;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this.caloriesBurned = cal;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getExerciseName() {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exerciseName;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getDuration() {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duration;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getCaloriesBurned() {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caloriesBurned;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toString() {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"Exercise: " + exerciseName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"\nDuration: " + duration + " min"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"\nCalories: " + caloriesBurned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+ " kcal";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Workout w = new Workout("Cycling",40,320);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System.out.println(w.toString());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761192" y="1508259"/>
            <a:ext cx="4702553" cy="12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Class Diagram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092" y="1677293"/>
            <a:ext cx="3056655" cy="305673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61192" y="4782081"/>
            <a:ext cx="4702553" cy="12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Sample Output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6761192" y="4951115"/>
            <a:ext cx="4702553" cy="915392"/>
          </a:xfrm>
          <a:prstGeom prst="roundRect">
            <a:avLst>
              <a:gd name="adj" fmla="val 15014"/>
            </a:avLst>
          </a:prstGeom>
          <a:solidFill>
            <a:srgbClr val="171528"/>
          </a:solidFill>
          <a:ln/>
        </p:spPr>
      </p:sp>
      <p:sp>
        <p:nvSpPr>
          <p:cNvPr id="13" name="Text 9"/>
          <p:cNvSpPr/>
          <p:nvPr/>
        </p:nvSpPr>
        <p:spPr>
          <a:xfrm>
            <a:off x="6871123" y="5042694"/>
            <a:ext cx="4482690" cy="732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 FITNESS TRACKER — CO4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Workout Details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Exercise: Cycling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Duration: 40 minutes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Calories Burned: 320 kcal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12524"/>
            <a:ext cx="10723294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CO5 / Module 5: Strings, Library Algorithms &amp; File I/O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734200" y="1025327"/>
            <a:ext cx="2106957" cy="168275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675" y="1065113"/>
            <a:ext cx="88600" cy="886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3526" y="1061292"/>
            <a:ext cx="2450741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WORKOUT HISTORY AND PERSISTENT STORAGE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734200" y="1323800"/>
            <a:ext cx="522651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Concepts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34200" y="1530152"/>
            <a:ext cx="5226515" cy="758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String methods: </a:t>
            </a:r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trim()</a:t>
            </a:r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equalsIgnoreCase()</a:t>
            </a:r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split()</a:t>
            </a:r>
            <a:endParaRPr lang="en-US" sz="850" dirty="0"/>
          </a:p>
          <a:p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Text parsing and validation</a:t>
            </a:r>
            <a:endParaRPr lang="en-US" sz="850" dirty="0"/>
          </a:p>
          <a:p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Arrays.sort()</a:t>
            </a:r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ordering data</a:t>
            </a:r>
            <a:endParaRPr lang="en-US" sz="850" dirty="0"/>
          </a:p>
          <a:p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PrintWriter</a:t>
            </a:r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/ </a:t>
            </a:r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BufferedReader</a:t>
            </a:r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for file I/O</a:t>
            </a:r>
            <a:endParaRPr lang="en-US" sz="850" dirty="0"/>
          </a:p>
          <a:p>
            <a:pPr algn="l" marL="172720" indent="-172720">
              <a:lnSpc>
                <a:spcPct val="102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Try-with-resources and exception handling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34200" y="2353492"/>
            <a:ext cx="522651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Sample Output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34200" y="2567186"/>
            <a:ext cx="5226515" cy="1817191"/>
          </a:xfrm>
          <a:prstGeom prst="roundRect">
            <a:avLst>
              <a:gd name="adj" fmla="val 9146"/>
            </a:avLst>
          </a:prstGeom>
          <a:solidFill>
            <a:srgbClr val="171528"/>
          </a:solidFill>
          <a:ln/>
        </p:spPr>
      </p:sp>
      <p:sp>
        <p:nvSpPr>
          <p:cNvPr id="10" name="Text 7"/>
          <p:cNvSpPr/>
          <p:nvPr/>
        </p:nvSpPr>
        <p:spPr>
          <a:xfrm>
            <a:off x="867150" y="2678043"/>
            <a:ext cx="4960615" cy="1595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 FITNESS TRACKER — CO5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Workout records saved successfully.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 Workout History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 — 30 minutes — 250 kcal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Cycling  — 40 minutes — 320 kcal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Walking  — 20 minutes — 100 kcal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 retrieved successfully.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237330" y="1323800"/>
            <a:ext cx="522651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Program: File-Based Workout History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37330" y="1537494"/>
            <a:ext cx="5226515" cy="4654054"/>
          </a:xfrm>
          <a:prstGeom prst="roundRect">
            <a:avLst>
              <a:gd name="adj" fmla="val 3571"/>
            </a:avLst>
          </a:prstGeom>
          <a:solidFill>
            <a:srgbClr val="171528"/>
          </a:solidFill>
          <a:ln/>
        </p:spPr>
      </p:sp>
      <p:sp>
        <p:nvSpPr>
          <p:cNvPr id="13" name="Text 10"/>
          <p:cNvSpPr/>
          <p:nvPr/>
        </p:nvSpPr>
        <p:spPr>
          <a:xfrm>
            <a:off x="6370280" y="1648351"/>
            <a:ext cx="4960615" cy="4432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Save workouts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(PrintWriter writer = new PrintWriter(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new FileWriter("workouts.txt"))) {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writer.println("Running,30,250");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writer.println("Cycling,40,320");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writer.println("Walking,20,100");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System.out.println("Saved successfully");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Load and display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(BufferedReader reader =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new BufferedReader(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new FileReader("workouts.txt"))) {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line;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while ((line = reader.readLine())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!= null) {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String[] parts = line.split(",");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System.out.println(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parts[0] + " — "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parts[1] + " min — "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parts[2] + " kcal");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"Retrieved successfully");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16385"/>
            <a:ext cx="10723294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CO6 / Module 6: Collections, Functional Programming &amp; Streams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734200" y="1017290"/>
            <a:ext cx="1393889" cy="165001"/>
          </a:xfrm>
          <a:prstGeom prst="roundRect">
            <a:avLst>
              <a:gd name="adj" fmla="val 49999"/>
            </a:avLst>
          </a:prstGeom>
          <a:solidFill>
            <a:srgbClr val="004D3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385" y="1056283"/>
            <a:ext cx="86913" cy="869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9756" y="1053180"/>
            <a:ext cx="1742734" cy="99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 WORKOUT ANALYTICS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734200" y="1538654"/>
            <a:ext cx="3580814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Program: Stream-Based Workout Analytics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4200" y="1746151"/>
            <a:ext cx="3580814" cy="4215408"/>
          </a:xfrm>
          <a:prstGeom prst="roundRect">
            <a:avLst>
              <a:gd name="adj" fmla="val 4552"/>
            </a:avLst>
          </a:prstGeom>
          <a:solidFill>
            <a:srgbClr val="171528"/>
          </a:solidFill>
          <a:ln/>
        </p:spPr>
      </p:sp>
      <p:sp>
        <p:nvSpPr>
          <p:cNvPr id="8" name="Text 5"/>
          <p:cNvSpPr/>
          <p:nvPr/>
        </p:nvSpPr>
        <p:spPr>
          <a:xfrm>
            <a:off x="864571" y="1854795"/>
            <a:ext cx="3320074" cy="3998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List&lt;Workout&gt; workouts = new ArrayList&lt;&gt;();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workouts.add(new Workout("Running",30,250));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workouts.add(new Workout("Cycling",40,320));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workouts.add(new Workout("Walking",20,100));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Filter workouts &gt;= 30 minutes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List&lt;Workout&gt; filtered = workouts.stream()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.filter(w -&gt; w.getDuration() &gt;= 30)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.collect(Collectors.toList());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System.out.println("Workouts &gt;= 30 min:");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filtered.forEach(System.out::println);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Calculate totals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totalCal = filtered.stream()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.mapToInt(Workout::getCaloriesBurned)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.sum();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"Count: " + filtered.size());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"Total Calories: " + totalCal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" kcal");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86470" y="1308566"/>
            <a:ext cx="6877275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Concepts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86470" y="1509018"/>
            <a:ext cx="6877275" cy="605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HashMap</a:t>
            </a:r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HashSet</a:t>
            </a:r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generics</a:t>
            </a:r>
            <a:endParaRPr lang="en-US" sz="850" dirty="0"/>
          </a:p>
          <a:p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Lambda expressions and functional interfaces</a:t>
            </a:r>
            <a:endParaRPr lang="en-US" sz="850" dirty="0"/>
          </a:p>
          <a:p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Predicate</a:t>
            </a:r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Consumer</a:t>
            </a:r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Comparator</a:t>
            </a:r>
            <a:endParaRPr lang="en-US" sz="850" dirty="0"/>
          </a:p>
          <a:p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Stream operations: </a:t>
            </a:r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sorted</a:t>
            </a:r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en-US" sz="850" dirty="0">
                <a:solidFill>
                  <a:srgbClr val="E0E4E6"/>
                </a:solidFill>
                <a:highlight>
                  <a:srgbClr val="17152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collect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86470" y="2177424"/>
            <a:ext cx="6877275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Stream Pipeline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964" y="2384921"/>
            <a:ext cx="4470189" cy="24427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96253" y="3537331"/>
            <a:ext cx="1002120" cy="12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List Input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9011786" y="3521438"/>
            <a:ext cx="1002120" cy="12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Filter ≥30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7728838" y="3526527"/>
            <a:ext cx="1012532" cy="12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Count:2 Sum:570 kcal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4586470" y="4897705"/>
            <a:ext cx="6877275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Sample Output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586470" y="5105202"/>
            <a:ext cx="6877275" cy="1086445"/>
          </a:xfrm>
          <a:prstGeom prst="roundRect">
            <a:avLst>
              <a:gd name="adj" fmla="val 15003"/>
            </a:avLst>
          </a:prstGeom>
          <a:solidFill>
            <a:srgbClr val="171528"/>
          </a:solidFill>
          <a:ln/>
        </p:spPr>
      </p:sp>
      <p:sp>
        <p:nvSpPr>
          <p:cNvPr id="18" name="Text 14"/>
          <p:cNvSpPr/>
          <p:nvPr/>
        </p:nvSpPr>
        <p:spPr>
          <a:xfrm>
            <a:off x="4716841" y="5213846"/>
            <a:ext cx="6616534" cy="869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Workouts lasting at least 30 minutes: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— 30 min — 250 kcal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Cycling — 40 min — 320 kcal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Qualifying Workouts: 2</a:t>
            </a:r>
            <a:endParaRPr lang="en-US" sz="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Calories: 570 kcal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85922"/>
            <a:ext cx="10723294" cy="230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Final Integrated Project: Complete Personal Fitness &amp; Workout Tracker</a:t>
            </a:r>
            <a:endParaRPr lang="en-US" sz="1450" dirty="0"/>
          </a:p>
        </p:txBody>
      </p:sp>
      <p:sp>
        <p:nvSpPr>
          <p:cNvPr id="3" name="Shape 1"/>
          <p:cNvSpPr/>
          <p:nvPr/>
        </p:nvSpPr>
        <p:spPr>
          <a:xfrm>
            <a:off x="734200" y="894060"/>
            <a:ext cx="5260347" cy="5351264"/>
          </a:xfrm>
          <a:prstGeom prst="roundRect">
            <a:avLst>
              <a:gd name="adj" fmla="val 2370"/>
            </a:avLst>
          </a:prstGeom>
          <a:solidFill>
            <a:srgbClr val="171528"/>
          </a:solidFill>
          <a:ln/>
        </p:spPr>
      </p:sp>
      <p:sp>
        <p:nvSpPr>
          <p:cNvPr id="4" name="Text 2"/>
          <p:cNvSpPr/>
          <p:nvPr/>
        </p:nvSpPr>
        <p:spPr>
          <a:xfrm>
            <a:off x="833913" y="977106"/>
            <a:ext cx="5060923" cy="5185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java.io.*;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java.util.*;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CO4: class with private fields, constructor, getters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Workout 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name;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duration;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calories;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Workout(String name, int duration, int calories) 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this.name = name; this.duration = duration; this.calories = calories;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getName() { return name; 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getDuration() { return duration; 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getCalories() { return calories; 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PersonalFitnessTracker 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CO6: ArrayList of objects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ArrayList workouts = new ArrayList&lt;&gt;();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CO1: Scanner for input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Scanner scanner = new Scanner(System.in);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CO2: menu loop with switch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choice;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 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System.out.println("1. Add  2. View  3. Total duration  4. Save  0. Exit");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choice = scanner.nextInt();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scanner.nextLine();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switch (choice) 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1: addWorkout(); break;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2: viewAll(); break;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3: System.out.println("Total: " + totalDuration() + " min"); break;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4: saveWorkouts(); break;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0: System.out.println("Goodbye!"); break;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default: System.out.println("Invalid choice.");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while (choice != 0);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203497" y="894060"/>
            <a:ext cx="5260347" cy="4553545"/>
          </a:xfrm>
          <a:prstGeom prst="roundRect">
            <a:avLst>
              <a:gd name="adj" fmla="val 2737"/>
            </a:avLst>
          </a:prstGeom>
          <a:solidFill>
            <a:srgbClr val="171528"/>
          </a:solidFill>
          <a:ln/>
        </p:spPr>
      </p:sp>
      <p:sp>
        <p:nvSpPr>
          <p:cNvPr id="6" name="Text 4"/>
          <p:cNvSpPr/>
          <p:nvPr/>
        </p:nvSpPr>
        <p:spPr>
          <a:xfrm>
            <a:off x="6303209" y="977106"/>
            <a:ext cx="5060923" cy="4387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CO3: small static methods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void addWorkout() 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System.out.print("Exercise: ");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name = scanner.nextLine();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System.out.print("Minutes: ");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duration = scanner.nextInt();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System.out.print("Calories: ");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calories = scanner.nextInt();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scanner.nextLine();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workouts.add(new Workout(name, duration, calories));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void viewAll() 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(Workout w : workouts)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System.out.println(w.getName() + " - " + w.getDuration() + " min - " + w.getCalories() + " kcal");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CO6: one stream for totals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int totalDuration() 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workouts.stream().mapToInt(Workout::getDuration).sum();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CO5: PrintWriter for saving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void saveWorkouts() 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 (PrintWriter writer = new PrintWriter("workouts.txt")) 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(Workout w : workouts)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writer.println(w.getName() + "," + w.getDuration() + "," + w.getCalories());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System.out.println("Saved to workouts.txt");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catch (IOException e) {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System.out.println("Error: " + e.getMessage());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44083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Integrated Output, Conclusion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34200" y="1294584"/>
            <a:ext cx="10723294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Program Output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4200" y="1890911"/>
            <a:ext cx="10723294" cy="3777059"/>
          </a:xfrm>
          <a:prstGeom prst="roundRect">
            <a:avLst>
              <a:gd name="adj" fmla="val 8332"/>
            </a:avLst>
          </a:prstGeom>
          <a:solidFill>
            <a:srgbClr val="171528"/>
          </a:solidFill>
          <a:ln/>
        </p:spPr>
      </p:sp>
      <p:sp>
        <p:nvSpPr>
          <p:cNvPr id="5" name="Text 3"/>
          <p:cNvSpPr/>
          <p:nvPr/>
        </p:nvSpPr>
        <p:spPr>
          <a:xfrm>
            <a:off x="985912" y="2100659"/>
            <a:ext cx="10219871" cy="3357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Add  2. View  3. Total duration  4. Save  0. Exit</a:t>
            </a:r>
            <a:endParaRPr lang="en-US" sz="1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Choose: 2</a:t>
            </a:r>
            <a:endParaRPr lang="en-US" sz="1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- 30 min - 250 kcal</a:t>
            </a:r>
            <a:endParaRPr lang="en-US" sz="1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Cycling - 40 min - 320 kcal</a:t>
            </a:r>
            <a:endParaRPr lang="en-US" sz="1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Choose: 3</a:t>
            </a:r>
            <a:endParaRPr lang="en-US" sz="1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Total: 70 min</a:t>
            </a:r>
            <a:endParaRPr lang="en-US" sz="1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Choose: 4</a:t>
            </a:r>
            <a:endParaRPr lang="en-US" sz="1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Saved to workouts.txt</a:t>
            </a:r>
            <a:endParaRPr lang="en-US" sz="1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Choose: 0</a:t>
            </a:r>
            <a:endParaRPr lang="en-US" sz="16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Goodbye!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4200" y="5903913"/>
            <a:ext cx="1133287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                       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2625689"/>
            <a:ext cx="10723294" cy="1748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0" b="1" dirty="0">
                <a:solidFill>
                  <a:srgbClr val="00FF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THANK YOU</a:t>
            </a:r>
            <a:endParaRPr lang="en-US" sz="1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2026-10-15T14:53:57Z</dcterms:created>
  <dcterms:modified xsi:type="dcterms:W3CDTF">2026-10-15T14:53:57Z</dcterms:modified>
</cp:coreProperties>
</file>